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Bloomberg</a:t>
            </a:r>
            <a:r>
              <a:rPr/>
              <a:t> </a:t>
            </a:r>
            <a:r>
              <a:rPr/>
              <a:t>Businessweek’s</a:t>
            </a:r>
            <a:r>
              <a:rPr/>
              <a:t> </a:t>
            </a:r>
            <a:r>
              <a:rPr/>
              <a:t>College</a:t>
            </a:r>
            <a:r>
              <a:rPr/>
              <a:t> </a:t>
            </a:r>
            <a:r>
              <a:rPr/>
              <a:t>Rankings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2021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Tural</a:t>
            </a:r>
            <a:r>
              <a:rPr/>
              <a:t> </a:t>
            </a:r>
            <a:r>
              <a:rPr/>
              <a:t>Sadigov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2/3/2022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Can we reproduce Bloomberg Businessweek’s MBA college ranking?</a:t>
            </a:r>
          </a:p>
          <a:p>
            <a:pPr lvl="1"/>
            <a:r>
              <a:rPr/>
              <a:t>Dr. Anjani Jain (Yale)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Bloomberg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methodology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2021</a:t>
            </a:r>
            <a:r>
              <a:rPr/>
              <a:t> </a:t>
            </a:r>
            <a:r>
              <a:rPr/>
              <a:t>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119 MBA program (we will look at the first 84)</a:t>
            </a:r>
          </a:p>
          <a:p>
            <a:pPr lvl="1"/>
            <a:r>
              <a:rPr/>
              <a:t>Five variables: Compensation, Learning, Networking, Entrepreneurship, Diversity</a:t>
            </a:r>
          </a:p>
          <a:p>
            <a:pPr lvl="1"/>
            <a:r>
              <a:rPr/>
              <a:t>Weights for the categories are crowd-sourced</a:t>
            </a:r>
          </a:p>
          <a:p>
            <a:pPr lvl="1"/>
            <a:r>
              <a:rPr/>
              <a:t>Surveys: students, alumni, recruiters</a:t>
            </a:r>
          </a:p>
          <a:p>
            <a:pPr lvl="1"/>
            <a:r>
              <a:rPr/>
              <a:t>Key claim: It is intentionally not reproducible!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collection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variable</a:t>
            </a:r>
            <a:r>
              <a:rPr/>
              <a:t> </a:t>
            </a:r>
            <a:r>
              <a:rPr/>
              <a:t>creation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/>
                  <a:t>Survey - each variable: 1-7</a:t>
                </a:r>
              </a:p>
              <a:p>
                <a:pPr lvl="1"/>
                <a:r>
                  <a:rPr/>
                  <a:t>Raw scores weighted</a:t>
                </a:r>
              </a:p>
              <a:p>
                <a:pPr lvl="1"/>
                <a:r>
                  <a:rPr/>
                  <a:t>Weighted sum: 1-7</a:t>
                </a:r>
              </a:p>
              <a:p>
                <a:pPr lvl="1"/>
                <a:r>
                  <a:rPr/>
                  <a:t>Weighted sum is scaled to 0 - 100 (‘normalized’)</a:t>
                </a:r>
              </a:p>
              <a:p>
                <a:pPr lvl="1"/>
                <a:r>
                  <a:rPr/>
                  <a:t>Minimum –&gt; 0, Maximum –&gt; 100</a:t>
                </a:r>
              </a:p>
              <a:p>
                <a:pPr lvl="1"/>
                <a:r>
                  <a:rPr/>
                  <a:t>Transformation: </a:t>
                </a:r>
                <a14:m>
                  <m:oMath xmlns:m="http://schemas.openxmlformats.org/officeDocument/2006/math">
                    <m:r>
                      <m:t>T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100</m:t>
                        </m:r>
                      </m:num>
                      <m:den>
                        <m:sSub>
                          <m:e>
                            <m:r>
                              <m:t>x</m:t>
                            </m:r>
                          </m:e>
                          <m:sub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n</m:t>
                                </m:r>
                              </m:e>
                            </m:d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1</m:t>
                                </m:r>
                              </m:e>
                            </m:d>
                          </m:sub>
                        </m:sSub>
                      </m:den>
                    </m:f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d>
                              <m:dPr>
                                <m:begChr m:val="("/>
                                <m:endChr m:val=")"/>
                                <m:sepChr m:val=""/>
                                <m:grow/>
                              </m:dPr>
                              <m:e>
                                <m:r>
                                  <m:t>1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</a:p>
              <a:p>
                <a:pPr lvl="1"/>
                <a:r>
                  <a:rPr/>
                  <a:t>Crowd-sourced weights are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##     Compensation         Learning       Networking Entrepreneurship 
##            0.357            0.258            0.178            0.120 
##        Diversity 
##            0.086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Toy</a:t>
            </a:r>
            <a:r>
              <a:rPr/>
              <a:t> </a:t>
            </a:r>
            <a:r>
              <a:rPr/>
              <a:t>example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transformations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Businnessweek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Comp Lear Comp_weigthed Lear_weighted w_sum scaled_w_sum
##     2    5           1.2           2.0   3.2      0.00000
##     3    6           1.8           2.4   4.2     83.33333
##     4    5           2.4           2.0   4.4    100.00000</a:t>
            </a:r>
          </a:p>
          <a:p>
            <a:pPr lvl="0" indent="0">
              <a:buNone/>
            </a:pPr>
            <a:r>
              <a:rPr>
                <a:latin typeface="Courier"/>
              </a:rPr>
              <a:t>## Compensation     Learning 
##          0.6          0.4</a:t>
            </a:r>
          </a:p>
          <a:p>
            <a:pPr lvl="0" indent="0">
              <a:buNone/>
            </a:pPr>
            <a:r>
              <a:rPr>
                <a:latin typeface="Courier"/>
              </a:rPr>
              <a:t>## Variance of Compensation is  1</a:t>
            </a:r>
          </a:p>
          <a:p>
            <a:pPr lvl="0" indent="0">
              <a:buNone/>
            </a:pPr>
            <a:r>
              <a:rPr>
                <a:latin typeface="Courier"/>
              </a:rPr>
              <a:t>## Variance of Learning is  0.3333333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Toy</a:t>
            </a:r>
            <a:r>
              <a:rPr/>
              <a:t> </a:t>
            </a:r>
            <a:r>
              <a:rPr/>
              <a:t>example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transformations</a:t>
            </a:r>
            <a:r>
              <a:rPr/>
              <a:t> </a:t>
            </a:r>
            <a:r>
              <a:rPr/>
              <a:t>differently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Comp Lear Comp_scaled Lear_scaled Comp_weigthed Lear_weighted w_sum
##     2    5           0           0             0             0     0
##     3    6          50         100            30            40    70
##     4    5         100           0            60             0    60</a:t>
            </a:r>
          </a:p>
          <a:p>
            <a:pPr lvl="0" indent="0">
              <a:buNone/>
            </a:pPr>
            <a:r>
              <a:rPr>
                <a:latin typeface="Courier"/>
              </a:rPr>
              <a:t>## Compensation     Learning 
##          0.6          0.4</a:t>
            </a:r>
          </a:p>
          <a:p>
            <a:pPr lvl="0" indent="0">
              <a:buNone/>
            </a:pPr>
            <a:r>
              <a:rPr>
                <a:latin typeface="Courier"/>
              </a:rPr>
              <a:t>## Variance of Scaled Compensation is  2500</a:t>
            </a:r>
          </a:p>
          <a:p>
            <a:pPr lvl="0" indent="0">
              <a:buNone/>
            </a:pPr>
            <a:r>
              <a:rPr>
                <a:latin typeface="Courier"/>
              </a:rPr>
              <a:t>## Variance of Scaled Learning is  3333.333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Toy</a:t>
            </a:r>
            <a:r>
              <a:rPr/>
              <a:t> </a:t>
            </a:r>
            <a:r>
              <a:rPr/>
              <a:t>example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transformations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Businnessweek</a:t>
            </a:r>
            <a:r>
              <a:rPr/>
              <a:t> </a:t>
            </a:r>
            <a:r>
              <a:rPr/>
              <a:t>but</a:t>
            </a:r>
            <a:r>
              <a:rPr/>
              <a:t> </a:t>
            </a:r>
            <a:r>
              <a:rPr/>
              <a:t>use</a:t>
            </a:r>
            <a:r>
              <a:rPr/>
              <a:t> </a:t>
            </a:r>
            <a:r>
              <a:rPr/>
              <a:t>z-scores</a:t>
            </a:r>
            <a:r>
              <a:rPr/>
              <a:t> </a:t>
            </a:r>
            <a:r>
              <a:rPr/>
              <a:t>instead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Comp Lear Comp_z     Lear_z Comp_weigthed Lear_weighted      w_sum
##     2    5     -1 -0.5773503          -0.6    -0.2309401 -0.8309401
##     3    6      0  1.1547005           0.0     0.4618802  0.4618802
##     4    5      1 -0.5773503           0.6    -0.2309401  0.3690599
##  scaled_w_sum
##       0.00000
##     100.00000
##      92.82032</a:t>
            </a:r>
          </a:p>
          <a:p>
            <a:pPr lvl="0" indent="0">
              <a:buNone/>
            </a:pPr>
            <a:r>
              <a:rPr>
                <a:latin typeface="Courier"/>
              </a:rPr>
              <a:t>## Compensation     Learning 
##          0.6          0.4</a:t>
            </a:r>
          </a:p>
          <a:p>
            <a:pPr lvl="0" indent="0">
              <a:buNone/>
            </a:pPr>
            <a:r>
              <a:rPr>
                <a:latin typeface="Courier"/>
              </a:rPr>
              <a:t>## Variance of Variable Z-score is always 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Rank                 School Overall.score Compensation Learning
##     1               Stanford           100        100.0     74.8
##     2       Dartmouth (Tuck)            92         97.3     69.0
##     3                Harvard            89         94.9     55.4
##     4        Chicago (Booth)            88         94.5     59.6
##     5 Northwestern (Kellogg)            88         94.3     59.0
##     5               Columbia            85         93.1     56.8</a:t>
            </a:r>
          </a:p>
        </p:txBody>
      </p:sp>
    </p:spTree>
  </p:cSld>
</p:sld>
</file>

<file path=ppt/slides/slide9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marL="0" indent="0"><a:buNone /></a:pPr><a:r><a:rPr /><a:t>Transformation</a:t></a:r><a:r><a:rPr /><a:t> </a:t></a:r><a14:m><m:oMath xmlns:m="http://schemas.openxmlformats.org/officeDocument/2006/math"><m:r><m:t>T</m:t></m:r></m:oMath></a14:m><a:r><a:rPr /><a:t> </a:t></a:r><a:r><a:rPr /><a:t>is</a:t></a:r><a:r><a:rPr /><a:t> </a:t></a:r><a:r><a:rPr /><a:t>not</a:t></a:r><a:r><a:rPr /><a:t> </a:t></a:r><a:r><a:rPr /><a:t>1-1</a:t></a:r></a:p></p:txBody></p:sp><p:sp><p:nvSpPr><p:cNvPr id="3" name="Content Placeholder 2" /><p:cNvSpPr><a:spLocks noGrp="1" /></p:cNvSpPr><p:nvPr><p:ph idx="1" /></p:nvPr></p:nvSpPr><p:spPr /><p:txBody><a:bodyPr /><a:lstStyle /><a:p><a:pPr lvl="0" indent="0"><a:buNone /></a:pPr><a:r><a:rPr><a:latin typeface="Courier" /></a:rPr><a:t>##  x  Tx
##  1   0
##  2  50
##  3 100</a:t></a:r></a:p><a:p><a:pPr lvl="0" indent="0"><a:buNone /></a:pPr><a:r><a:rPr><a:latin typeface="Courier" /></a:rPr><a:t>##  x  Tx
##  2   0
##  3  50
##  4 100</a:t></a:r></a:p></p:txBody></p:sp></p:spTree></p:cSld>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Dr. Jain’s</a:t>
            </a:r>
            <a:r>
              <a:rPr/>
              <a:t> </a:t>
            </a:r>
            <a:r>
              <a:rPr/>
              <a:t>main</a:t>
            </a:r>
            <a:r>
              <a:rPr/>
              <a:t> </a:t>
            </a:r>
            <a:r>
              <a:rPr/>
              <a:t>point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Transformation from 1-7 to 0-100 is linear (but he meant affine, not linear).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100</m:t>
                          </m:r>
                        </m:num>
                        <m:den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n</m:t>
                                  </m:r>
                                </m:e>
                              </m:d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1</m:t>
                                  </m:r>
                                </m:e>
                              </m:d>
                            </m:sub>
                          </m:sSub>
                        </m:den>
                      </m:f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1</m:t>
                                  </m:r>
                                </m:e>
                              </m:d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μ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σ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Dr. Jain’s claim: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T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Let’s see if that is correct.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Proof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Dr.Jain’s</a:t>
            </a:r>
            <a:r>
              <a:rPr/>
              <a:t> </a:t>
            </a:r>
            <a:r>
              <a:rPr/>
              <a:t>claim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For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,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μ</m:t>
                              </m:r>
                            </m:e>
                            <m:sub>
                              <m:r>
                                <m:t>a</m:t>
                              </m:r>
                              <m:r>
                                <m:t>x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σ</m:t>
                              </m:r>
                            </m:e>
                            <m:sub>
                              <m:r>
                                <m:t>a</m:t>
                              </m:r>
                              <m:r>
                                <m:t>x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a</m:t>
                          </m:r>
                          <m:sSub>
                            <m:e>
                              <m:r>
                                <m:t>μ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</m:num>
                        <m:den>
                          <m:r>
                            <m:t>a</m:t>
                          </m:r>
                          <m:sSub>
                            <m:e>
                              <m:r>
                                <m:t>σ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and for any </a:t>
                </a:r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  <m:scr m:val="double-struck"/>
                      </m:rPr>
                      <m:t>R</m:t>
                    </m:r>
                  </m:oMath>
                </a14:m>
                <a:r>
                  <a:rPr/>
                  <a:t>,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c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c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μ</m:t>
                              </m:r>
                            </m:e>
                            <m:sub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c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σ</m:t>
                              </m:r>
                            </m:e>
                            <m:sub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c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c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μ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c</m:t>
                          </m:r>
                        </m:num>
                        <m:den>
                          <m:sSub>
                            <m:e>
                              <m:r>
                                <m:t>σ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Thus,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T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100</m:t>
                              </m:r>
                            </m:num>
                            <m:den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m:t>n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m:t>1</m:t>
                                      </m:r>
                                    </m:e>
                                  </m:d>
                                </m:sub>
                              </m:sSub>
                            </m:den>
                          </m:f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m:t>1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1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Dr. Jain’s</a:t>
            </a:r>
            <a:r>
              <a:rPr/>
              <a:t> </a:t>
            </a:r>
            <a:r>
              <a:rPr/>
              <a:t>main</a:t>
            </a:r>
            <a:r>
              <a:rPr/>
              <a:t> </a:t>
            </a:r>
            <a:r>
              <a:rPr/>
              <a:t>point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CORRECT.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“If the published ‘normalized scores’ on each index are simply a 0-100 linear re-scaling of the 1-7 raw data, as BBW’s email response indicates, then the published index scores can still be standardized before applying the index weights to them.”</a:t>
                </a:r>
              </a:p>
              <a:p>
                <a:pPr lvl="0" marL="0" indent="0">
                  <a:buNone/>
                </a:pPr>
                <a:r>
                  <a:rPr/>
                  <a:t>We hope to have this: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→</m:t>
                      </m:r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→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→</m:t>
                      </m:r>
                      <m:nary>
                        <m:naryPr>
                          <m:chr m:val="∑"/>
                          <m:limLoc m:val="undOvr"/>
                          <m:subHide m:val="0"/>
                          <m:supHide m:val="0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5</m:t>
                          </m:r>
                        </m:sup>
                        <m:e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→</m:t>
                      </m:r>
                      <m:r>
                        <m:t>T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bHide m:val="0"/>
                              <m:supHide m:val="0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5</m:t>
                              </m:r>
                            </m:sup>
                            <m:e>
                              <m:sSub>
                                <m:e>
                                  <m:r>
                                    <m:t>w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  <m:r>
                            <m:t>Z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7</m:t>
                          </m:r>
                        </m:e>
                      </m:d>
                      <m:r>
                        <m:rPr>
                          <m:sty m:val="p"/>
                        </m:rPr>
                        <m:t>→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3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m:t>→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3</m:t>
                          </m:r>
                          <m:r>
                            <m:t>w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3</m:t>
                          </m:r>
                          <m:r>
                            <m:t>w</m:t>
                          </m:r>
                        </m:e>
                      </m:d>
                      <m:r>
                        <m:rPr>
                          <m:sty m:val="p"/>
                        </m:rPr>
                        <m:t>→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3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m:t>→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100</m:t>
                          </m:r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But, we only have scaled data (in the range of 0-100)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Rank                 School Overall.score Compensation Learning
##     1               Stanford           100        100.0     74.8
##     2       Dartmouth (Tuck)            92         97.3     69.0
##     3                Harvard            89         94.9     55.4
##     4        Chicago (Booth)            88         94.5     59.6
##     5 Northwestern (Kellogg)            88         94.3     59.0
##     5               Columbia            85         93.1     56.8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One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still</a:t>
            </a:r>
            <a:r>
              <a:rPr/>
              <a:t> </a:t>
            </a:r>
            <a:r>
              <a:rPr/>
              <a:t>standartize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→</m:t>
                      </m:r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T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→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→</m:t>
                      </m:r>
                      <m:nary>
                        <m:naryPr>
                          <m:chr m:val="∑"/>
                          <m:limLoc m:val="undOvr"/>
                          <m:subHide m:val="0"/>
                          <m:supHide m:val="0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5</m:t>
                          </m:r>
                        </m:sup>
                        <m:e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r>
                        <m:t>Z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→</m:t>
                      </m:r>
                      <m:r>
                        <m:t>T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bHide m:val="0"/>
                              <m:supHide m:val="0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5</m:t>
                              </m:r>
                            </m:sup>
                            <m:e>
                              <m:sSub>
                                <m:e>
                                  <m:r>
                                    <m:t>w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  <m:r>
                            <m:t>Z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Step</a:t>
            </a:r>
            <a:r>
              <a:rPr/>
              <a:t> </a:t>
            </a:r>
            <a:r>
              <a:rPr/>
              <a:t>back:</a:t>
            </a:r>
            <a:r>
              <a:rPr/>
              <a:t> </a:t>
            </a:r>
            <a:r>
              <a:rPr/>
              <a:t>understanding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hand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correlation</a:t>
            </a:r>
            <a:r>
              <a:rPr/>
              <a:t> </a:t>
            </a:r>
            <a:r>
              <a:rPr/>
              <a:t>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MLR will NOT give accurate estimates of true weights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Standartized</a:t>
            </a:r>
            <a:r>
              <a:rPr/>
              <a:t> </a:t>
            </a:r>
            <a:r>
              <a:rPr/>
              <a:t>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 Compensation  Learning Networking Entrepreneurship  Diversity
## 1     1.754545 1.3245506   1.563697        2.6702624 0.79422338
## 2     1.649915 1.0365380   1.269983        0.3435291 0.76657341
## 3     1.556910 0.3611981   1.036740        0.9375887 0.76657341
## 4     1.541409 0.5697590   1.174958        1.2346185 0.11679917
## 5     1.533659 0.5399645   1.399563        0.6405589 0.22739904
## 6     1.487156 0.4307184   1.235429        0.7890738 0.02924094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Weighted</a:t>
            </a:r>
            <a:r>
              <a:rPr/>
              <a:t> </a:t>
            </a:r>
            <a:r>
              <a:rPr/>
              <a:t>sum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ranking</a:t>
            </a:r>
            <a:r>
              <a:rPr/>
              <a:t> </a:t>
            </a:r>
            <a:r>
              <a:rPr/>
              <a:t>accorDing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BB</a:t>
            </a:r>
            <a:r>
              <a:rPr/>
              <a:t> </a:t>
            </a:r>
            <a:r>
              <a:rPr/>
              <a:t>weights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    w_sum w_sum_normalized my_rank BB_rank
## 1 1.635180              100       1       1
## 2 1.189652               87       2       2
## 3 1.011982               82       5       3
## 4 1.064622               84       3       4
## 5 1.032373               83       4       5
## 6 0.959150               81       6       5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Compare</a:t>
            </a:r>
            <a:r>
              <a:rPr/>
              <a:t> </a:t>
            </a:r>
            <a:r>
              <a:rPr/>
              <a:t>rankings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  my_rank BB_rank
## 1        1       1
## 2        2       2
## 3        5       3
## 4        3       4
## 5        4       5
## 41      32      39
## 42      54      42
## 43      49      42
## 44      50      44
## 45      47      44
## 80      71      77
## 81      83      81
## 82      70      81
## 83      82      83
## 84      84      84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How</a:t>
            </a:r>
            <a:r>
              <a:rPr/>
              <a:t> </a:t>
            </a:r>
            <a:r>
              <a:rPr/>
              <a:t>many</a:t>
            </a:r>
            <a:r>
              <a:rPr/>
              <a:t> </a:t>
            </a:r>
            <a:r>
              <a:rPr/>
              <a:t>schools</a:t>
            </a:r>
            <a:r>
              <a:rPr/>
              <a:t> </a:t>
            </a:r>
            <a:r>
              <a:rPr/>
              <a:t>have</a:t>
            </a:r>
            <a:r>
              <a:rPr/>
              <a:t> </a:t>
            </a:r>
            <a:r>
              <a:rPr/>
              <a:t>ranking</a:t>
            </a:r>
            <a:r>
              <a:rPr/>
              <a:t> </a:t>
            </a:r>
            <a:r>
              <a:rPr/>
              <a:t>error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more</a:t>
            </a:r>
            <a:r>
              <a:rPr/>
              <a:t> </a:t>
            </a:r>
            <a:r>
              <a:rPr/>
              <a:t>than</a:t>
            </a:r>
            <a:r>
              <a:rPr/>
              <a:t> </a:t>
            </a:r>
            <a:r>
              <a:rPr/>
              <a:t>3?</a:t>
            </a:r>
            <a:r>
              <a:rPr/>
              <a:t> </a:t>
            </a:r>
            <a:r>
              <a:rPr/>
              <a:t>5?</a:t>
            </a:r>
            <a:r>
              <a:rPr/>
              <a:t> </a:t>
            </a:r>
            <a:r>
              <a:rPr/>
              <a:t>10?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of schools with ranking error of more than three is 56</a:t>
            </a:r>
          </a:p>
          <a:p>
            <a:pPr lvl="0" indent="0">
              <a:buNone/>
            </a:pPr>
            <a:r>
              <a:rPr>
                <a:latin typeface="Courier"/>
              </a:rPr>
              <a:t>## # of schools with ranking error of more than five is 46</a:t>
            </a:r>
          </a:p>
          <a:p>
            <a:pPr lvl="0" indent="0">
              <a:buNone/>
            </a:pPr>
            <a:r>
              <a:rPr>
                <a:latin typeface="Courier"/>
              </a:rPr>
              <a:t>## # of schools with ranking error of more than ten is 26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Can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back-engineer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weights?</a:t>
            </a:r>
            <a:r>
              <a:rPr/>
              <a:t> </a:t>
            </a:r>
            <a:r>
              <a:rPr/>
              <a:t>Apply</a:t>
            </a:r>
            <a:r>
              <a:rPr/>
              <a:t> </a:t>
            </a:r>
            <a:r>
              <a:rPr/>
              <a:t>Multiple</a:t>
            </a:r>
            <a:r>
              <a:rPr/>
              <a:t> </a:t>
            </a:r>
            <a:r>
              <a:rPr/>
              <a:t>Linear</a:t>
            </a:r>
            <a:r>
              <a:rPr/>
              <a:t> </a:t>
            </a:r>
            <a:r>
              <a:rPr/>
              <a:t>Regression</a:t>
            </a:r>
            <a:r>
              <a:rPr/>
              <a:t> </a:t>
            </a:r>
            <a:r>
              <a:rPr/>
              <a:t>without</a:t>
            </a:r>
            <a:r>
              <a:rPr/>
              <a:t> </a:t>
            </a:r>
            <a:r>
              <a:rPr/>
              <a:t>intercept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                pr_weights MLR_weights
## Compensation          0.357  0.73089644
## Learning              0.258  0.10019383
## Networking            0.178  0.02435713
## Entrepreneurship      0.120  0.04766022
## Diversity             0.086  0.06960378</a:t>
            </a:r>
          </a:p>
          <a:p>
            <a:pPr lvl="0" indent="0">
              <a:buNone/>
            </a:pPr>
            <a:r>
              <a:rPr>
                <a:latin typeface="Courier"/>
              </a:rPr>
              <a:t>## the sum of the coefficents =  0.9727114</a:t>
            </a:r>
          </a:p>
          <a:p>
            <a:pPr lvl="0" indent="0">
              <a:buNone/>
            </a:pPr>
            <a:r>
              <a:rPr>
                <a:latin typeface="Courier"/>
              </a:rPr>
              <a:t>## R square =  0.9945974</a:t>
            </a:r>
          </a:p>
          <a:p>
            <a:pPr lvl="0" indent="0">
              <a:buNone/>
            </a:pPr>
            <a:r>
              <a:rPr>
                <a:latin typeface="Courier"/>
              </a:rPr>
              <a:t>## Adjusted R square =  0.9942555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Dr. Jain:</a:t>
            </a:r>
            <a:r>
              <a:rPr/>
              <a:t> </a:t>
            </a:r>
            <a:r>
              <a:rPr/>
              <a:t>“</a:t>
            </a:r>
            <a:r>
              <a:rPr/>
              <a:t>a</a:t>
            </a:r>
            <a:r>
              <a:rPr/>
              <a:t> </a:t>
            </a:r>
            <a:r>
              <a:rPr/>
              <a:t>constrained</a:t>
            </a:r>
            <a:r>
              <a:rPr/>
              <a:t> </a:t>
            </a:r>
            <a:r>
              <a:rPr/>
              <a:t>optimization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minimizes</a:t>
            </a:r>
            <a:r>
              <a:rPr/>
              <a:t> </a:t>
            </a:r>
            <a:r>
              <a:rPr/>
              <a:t>variances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published</a:t>
            </a:r>
            <a:r>
              <a:rPr/>
              <a:t> </a:t>
            </a:r>
            <a:r>
              <a:rPr/>
              <a:t>ranking</a:t>
            </a:r>
            <a:r>
              <a:rPr/>
              <a:t>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/>
                  <a:t>Model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4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5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5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ϵ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/>
                  <a:t>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0"/>
                        <m:supHide m:val="1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w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≥</m:t>
                    </m:r>
                    <m:r>
                      <m:t>0</m:t>
                    </m:r>
                  </m:oMath>
                </a14:m>
                <a:r>
                  <a:rPr/>
                  <a:t>. Then minimize</a:t>
                </a:r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subHide m:val="0"/>
                          <m:supHide m:val="1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m:t>+</m:t>
                                      </m:r>
                                      <m:sSub>
                                        <m:e>
                                          <m: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m:t>+</m:t>
                                      </m:r>
                                      <m:sSub>
                                        <m:e>
                                          <m: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m:t>3</m:t>
                                          </m:r>
                                        </m:sub>
                                      </m:sSub>
                                      <m:sSub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m:t>+</m:t>
                                      </m:r>
                                      <m:sSub>
                                        <m:e>
                                          <m: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m:t>4</m:t>
                                          </m:r>
                                        </m:sub>
                                      </m:sSub>
                                      <m:sSub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t>4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m:t>+</m:t>
                                      </m:r>
                                      <m:sSub>
                                        <m:e>
                                          <m: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m:t>5</m:t>
                                          </m:r>
                                        </m:sub>
                                      </m:sSub>
                                      <m:sSub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t>5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Back-engineered</a:t>
            </a:r>
            <a:r>
              <a:rPr/>
              <a:t> </a:t>
            </a:r>
            <a:r>
              <a:rPr/>
              <a:t>weights</a:t>
            </a:r>
            <a:r>
              <a:rPr/>
              <a:t> </a:t>
            </a:r>
            <a:r>
              <a:rPr/>
              <a:t>through</a:t>
            </a:r>
            <a:r>
              <a:rPr/>
              <a:t> </a:t>
            </a:r>
            <a:r>
              <a:rPr/>
              <a:t>constrained</a:t>
            </a:r>
            <a:r>
              <a:rPr/>
              <a:t> </a:t>
            </a:r>
            <a:r>
              <a:rPr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                pr_weights const_weights
## Compensation          0.357    0.73752838
## Learning              0.258    0.11863455
## Networking            0.178    0.00000000
## Entrepreneurship      0.120    0.07090125
## Diversity             0.086    0.07293583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LASSO</a:t>
            </a:r>
            <a:r>
              <a:rPr/>
              <a:t> </a:t>
            </a:r>
            <a:r>
              <a:rPr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R square is  0.999972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    lasso_weights pr_weights
## Compensation        0.66477615      0.357
## Learning            0.05277052      0.258
## Networking          0.11859931      0.178
## Entrepreneurship    0.02655805      0.120
## Diversity           0.06846675      0.086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Compare</a:t>
            </a:r>
            <a:r>
              <a:rPr/>
              <a:t> </a:t>
            </a:r>
            <a:r>
              <a:rPr/>
              <a:t>many</a:t>
            </a:r>
            <a:r>
              <a:rPr/>
              <a:t> </a:t>
            </a:r>
            <a:r>
              <a:rPr/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                pr_weights Jain_weights lasso_weights const_weights
## Compensation          0.357       0.5850    0.66477615    0.73752838
## Learning              0.258       0.0770    0.05277052    0.11863455
## Networking            0.178       0.1050    0.11859931    0.00000000
## Entrepreneurship      0.120       0.0790    0.02655805    0.07090125
## Diversity             0.086       0.1538    0.06846675    0.07293583
##                  MLR_weights
## Compensation      0.73089644
## Learning          0.10019383
## Networking        0.02435713
## Entrepreneurship  0.04766022
## Diversity         0.06960378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Decision</a:t>
            </a:r>
            <a:r>
              <a:rPr/>
              <a:t> </a:t>
            </a:r>
            <a:r>
              <a:rPr/>
              <a:t>Tree</a:t>
            </a:r>
          </a:p>
        </p:txBody>
      </p:sp>
      <p:pic>
        <p:nvPicPr>
          <p:cNvPr descr="College-Ranking-Presentation_files/figure-pptx/unnamed-chunk-2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600200"/>
            <a:ext cx="5651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Decision</a:t>
            </a:r>
            <a:r>
              <a:rPr/>
              <a:t> </a:t>
            </a:r>
            <a:r>
              <a:rPr/>
              <a:t>Tree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important</a:t>
            </a:r>
            <a:r>
              <a:rPr/>
              <a:t> </a:t>
            </a:r>
            <a:r>
              <a:rPr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                m1$variable.importance       perc provided_weights
## Compensation                  41847.861 0.40381234            0.357
## Networking                    26733.308 0.25796395            0.178
## Learning                      12846.825 0.12396587            0.258
## Entrepreneurship              12446.811 0.12010593            0.120
## Diversity                      9757.146 0.09415191            0.086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Bagged</a:t>
            </a:r>
            <a:r>
              <a:rPr/>
              <a:t> </a:t>
            </a:r>
            <a:r>
              <a:rPr/>
              <a:t>(Bootstrap</a:t>
            </a:r>
            <a:r>
              <a:rPr/>
              <a:t> </a:t>
            </a:r>
            <a:r>
              <a:rPr/>
              <a:t>Aggregated)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important</a:t>
            </a:r>
            <a:r>
              <a:rPr/>
              <a:t> </a:t>
            </a:r>
            <a:r>
              <a:rPr/>
              <a:t>variables</a:t>
            </a:r>
          </a:p>
        </p:txBody>
      </p:sp>
      <p:pic>
        <p:nvPicPr>
          <p:cNvPr descr="College-Ranking-Presentation_files/figure-pptx/unnamed-chunk-2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600200"/>
            <a:ext cx="5651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Few possibilities</a:t>
            </a:r>
          </a:p>
          <a:p>
            <a:pPr lvl="1"/>
            <a:r>
              <a:rPr/>
              <a:t>BB did not standardize the data (2018, 2019, 2020, 2021)</a:t>
            </a:r>
          </a:p>
          <a:p>
            <a:pPr lvl="1"/>
            <a:r>
              <a:rPr/>
              <a:t>Weights provided were not the true weights used</a:t>
            </a:r>
          </a:p>
          <a:p>
            <a:pPr lvl="1"/>
            <a:r>
              <a:rPr/>
              <a:t>Methodology is not accurately described</a:t>
            </a:r>
          </a:p>
          <a:p>
            <a:pPr lvl="1"/>
            <a:r>
              <a:rPr/>
              <a:t>Provided data is not accurate</a:t>
            </a:r>
          </a:p>
          <a:p>
            <a:pPr lvl="1"/>
            <a:r>
              <a:rPr/>
              <a:t>What else?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Bloomberg Businessweek’s College Rankings - 2021</dc:title>
  <dc:creator>Tural Sadigov</dc:creator>
  <cp:keywords/>
  <dcterms:created xsi:type="dcterms:W3CDTF">2022-02-01T23:56:25Z</dcterms:created>
  <dcterms:modified xsi:type="dcterms:W3CDTF">2022-02-01T23:56:25Z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2/3/2022</vt:lpwstr>
  </property>
  <property fmtid="{D5CDD505-2E9C-101B-9397-08002B2CF9AE}" pid="3" name="output">
    <vt:lpwstr/>
  </property>
</Properties>
</file>